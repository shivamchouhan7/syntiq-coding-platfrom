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8" r:id="rId12"/>
    <p:sldId id="264" r:id="rId13"/>
    <p:sldId id="265" r:id="rId14"/>
    <p:sldId id="266" r:id="rId15"/>
    <p:sldId id="267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59" y="0"/>
            <a:ext cx="4276799" cy="1028818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274320" cy="10287000"/>
          </a:xfrm>
          <a:custGeom>
            <a:avLst/>
            <a:gdLst/>
            <a:ahLst/>
            <a:cxnLst/>
            <a:rect l="l" t="t" r="r" b="b"/>
            <a:pathLst>
              <a:path w="274320" h="10287000">
                <a:moveTo>
                  <a:pt x="274319" y="0"/>
                </a:moveTo>
                <a:lnTo>
                  <a:pt x="0" y="0"/>
                </a:lnTo>
                <a:lnTo>
                  <a:pt x="0" y="10286999"/>
                </a:lnTo>
                <a:lnTo>
                  <a:pt x="274319" y="10286999"/>
                </a:lnTo>
                <a:lnTo>
                  <a:pt x="274319" y="0"/>
                </a:lnTo>
                <a:close/>
              </a:path>
            </a:pathLst>
          </a:custGeom>
          <a:solidFill>
            <a:srgbClr val="756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68131" y="702479"/>
            <a:ext cx="10351737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59" y="0"/>
            <a:ext cx="4276799" cy="1028818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274320" cy="10287000"/>
          </a:xfrm>
          <a:custGeom>
            <a:avLst/>
            <a:gdLst/>
            <a:ahLst/>
            <a:cxnLst/>
            <a:rect l="l" t="t" r="r" b="b"/>
            <a:pathLst>
              <a:path w="274320" h="10287000">
                <a:moveTo>
                  <a:pt x="274319" y="0"/>
                </a:moveTo>
                <a:lnTo>
                  <a:pt x="0" y="0"/>
                </a:lnTo>
                <a:lnTo>
                  <a:pt x="0" y="10286999"/>
                </a:lnTo>
                <a:lnTo>
                  <a:pt x="274319" y="10286999"/>
                </a:lnTo>
                <a:lnTo>
                  <a:pt x="274319" y="0"/>
                </a:lnTo>
                <a:close/>
              </a:path>
            </a:pathLst>
          </a:custGeom>
          <a:solidFill>
            <a:srgbClr val="756F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68131" y="504334"/>
            <a:ext cx="666242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4129" y="2096693"/>
            <a:ext cx="15759740" cy="641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753471" y="9486153"/>
            <a:ext cx="300355" cy="57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vamchouhan7/Syntiq-Coding-Platfrom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41917" y="6279441"/>
            <a:ext cx="5044883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65"/>
              </a:lnSpc>
              <a:spcBef>
                <a:spcPts val="95"/>
              </a:spcBef>
            </a:pPr>
            <a:r>
              <a:rPr lang="en-IN" sz="2500" b="1" spc="-85" dirty="0">
                <a:solidFill>
                  <a:srgbClr val="595959"/>
                </a:solidFill>
                <a:latin typeface="Times New Roman"/>
                <a:cs typeface="Times New Roman"/>
              </a:rPr>
              <a:t>Internal </a:t>
            </a:r>
            <a:r>
              <a:rPr sz="2500" b="1" spc="-85" dirty="0">
                <a:solidFill>
                  <a:srgbClr val="595959"/>
                </a:solidFill>
                <a:latin typeface="Times New Roman"/>
                <a:cs typeface="Times New Roman"/>
              </a:rPr>
              <a:t>Guide</a:t>
            </a:r>
            <a:r>
              <a:rPr sz="25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ts val="2965"/>
              </a:lnSpc>
            </a:pPr>
            <a:r>
              <a:rPr sz="2500" spc="75" dirty="0">
                <a:solidFill>
                  <a:srgbClr val="595959"/>
                </a:solidFill>
                <a:latin typeface="Times New Roman"/>
                <a:cs typeface="Times New Roman"/>
              </a:rPr>
              <a:t>Prof.</a:t>
            </a:r>
            <a:r>
              <a:rPr sz="25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IN" sz="2500" spc="90" dirty="0">
                <a:solidFill>
                  <a:srgbClr val="595959"/>
                </a:solidFill>
                <a:latin typeface="Times New Roman"/>
                <a:cs typeface="Times New Roman"/>
              </a:rPr>
              <a:t>(Dr) Prashant </a:t>
            </a:r>
            <a:r>
              <a:rPr lang="en-IN" sz="2500" spc="90" dirty="0" err="1">
                <a:solidFill>
                  <a:srgbClr val="595959"/>
                </a:solidFill>
                <a:latin typeface="Times New Roman"/>
                <a:cs typeface="Times New Roman"/>
              </a:rPr>
              <a:t>Lakkadwala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9138" y="6279441"/>
            <a:ext cx="4712262" cy="1897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ts val="2965"/>
              </a:lnSpc>
              <a:spcBef>
                <a:spcPts val="95"/>
              </a:spcBef>
            </a:pPr>
            <a:r>
              <a:rPr sz="2500" b="1" spc="-40" dirty="0">
                <a:solidFill>
                  <a:srgbClr val="595959"/>
                </a:solidFill>
                <a:latin typeface="Times New Roman"/>
                <a:cs typeface="Times New Roman"/>
              </a:rPr>
              <a:t>Presented</a:t>
            </a:r>
            <a:r>
              <a:rPr sz="2500" b="1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By:</a:t>
            </a:r>
            <a:endParaRPr sz="2500" dirty="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2930"/>
              </a:lnSpc>
              <a:spcBef>
                <a:spcPts val="114"/>
              </a:spcBef>
            </a:pPr>
            <a:r>
              <a:rPr lang="en-IN" sz="2500" spc="60" dirty="0">
                <a:solidFill>
                  <a:srgbClr val="595959"/>
                </a:solidFill>
                <a:latin typeface="Times New Roman"/>
                <a:cs typeface="Times New Roman"/>
              </a:rPr>
              <a:t>Puneet Kumar</a:t>
            </a:r>
            <a:r>
              <a:rPr sz="25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25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0827IT231</a:t>
            </a:r>
            <a:r>
              <a:rPr lang="en-IN"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106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IN" sz="2500" spc="70" dirty="0">
                <a:solidFill>
                  <a:srgbClr val="595959"/>
                </a:solidFill>
                <a:latin typeface="Times New Roman"/>
                <a:cs typeface="Times New Roman"/>
              </a:rPr>
              <a:t>Shivam Chouhan</a:t>
            </a:r>
            <a:r>
              <a:rPr sz="2500" dirty="0">
                <a:solidFill>
                  <a:srgbClr val="595959"/>
                </a:solidFill>
                <a:latin typeface="Times New Roman"/>
                <a:cs typeface="Times New Roman"/>
              </a:rPr>
              <a:t> - 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0827IT231</a:t>
            </a:r>
            <a:r>
              <a:rPr lang="en-IN"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124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IN" sz="2500" spc="90" dirty="0">
                <a:solidFill>
                  <a:srgbClr val="595959"/>
                </a:solidFill>
                <a:latin typeface="Times New Roman"/>
                <a:cs typeface="Times New Roman"/>
              </a:rPr>
              <a:t>Shivani Prajapati</a:t>
            </a:r>
            <a:r>
              <a:rPr sz="25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595959"/>
                </a:solidFill>
                <a:latin typeface="Times New Roman"/>
                <a:cs typeface="Times New Roman"/>
              </a:rPr>
              <a:t>- 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0827IT231</a:t>
            </a:r>
            <a:r>
              <a:rPr lang="en-IN"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126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lang="en-IN" sz="2500" spc="60" dirty="0">
                <a:solidFill>
                  <a:srgbClr val="595959"/>
                </a:solidFill>
                <a:latin typeface="Times New Roman"/>
                <a:cs typeface="Times New Roman"/>
              </a:rPr>
              <a:t>Shubhi Sahu</a:t>
            </a:r>
            <a:r>
              <a:rPr sz="25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25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0827IT231</a:t>
            </a:r>
            <a:r>
              <a:rPr lang="en-IN" sz="2500" spc="-10" dirty="0">
                <a:solidFill>
                  <a:srgbClr val="595959"/>
                </a:solidFill>
                <a:latin typeface="Times New Roman"/>
                <a:cs typeface="Times New Roman"/>
              </a:rPr>
              <a:t>131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00460" y="0"/>
            <a:ext cx="1763554" cy="26032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969" y="0"/>
            <a:ext cx="2428981" cy="207273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996338" y="823371"/>
            <a:ext cx="9070975" cy="24667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17670" marR="1732280" indent="-2478405" algn="ctr">
              <a:lnSpc>
                <a:spcPct val="118800"/>
              </a:lnSpc>
              <a:spcBef>
                <a:spcPts val="95"/>
              </a:spcBef>
            </a:pPr>
            <a:r>
              <a:rPr sz="5000" spc="-45" dirty="0">
                <a:solidFill>
                  <a:srgbClr val="000000"/>
                </a:solidFill>
              </a:rPr>
              <a:t> </a:t>
            </a:r>
            <a:r>
              <a:rPr sz="5000" spc="-10" dirty="0">
                <a:solidFill>
                  <a:srgbClr val="000000"/>
                </a:solidFill>
              </a:rPr>
              <a:t>Presentation </a:t>
            </a:r>
            <a:r>
              <a:rPr sz="5000" spc="-25" dirty="0">
                <a:solidFill>
                  <a:srgbClr val="000000"/>
                </a:solidFill>
              </a:rPr>
              <a:t>on</a:t>
            </a:r>
            <a:endParaRPr sz="5000" dirty="0"/>
          </a:p>
          <a:p>
            <a:pPr marL="12700" marR="5080" indent="431800" algn="ctr">
              <a:lnSpc>
                <a:spcPct val="100000"/>
              </a:lnSpc>
            </a:pPr>
            <a:r>
              <a:rPr sz="5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AI-</a:t>
            </a:r>
            <a:r>
              <a:rPr sz="5000" b="1" dirty="0">
                <a:solidFill>
                  <a:srgbClr val="000000"/>
                </a:solidFill>
                <a:latin typeface="Times New Roman"/>
                <a:cs typeface="Times New Roman"/>
              </a:rPr>
              <a:t>Powered</a:t>
            </a:r>
            <a:r>
              <a:rPr sz="50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IN" sz="50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Coding Practice Platform (</a:t>
            </a:r>
            <a:r>
              <a:rPr lang="en-IN" sz="5000" b="1" spc="-35" dirty="0" err="1">
                <a:solidFill>
                  <a:srgbClr val="000000"/>
                </a:solidFill>
                <a:latin typeface="Times New Roman"/>
                <a:cs typeface="Times New Roman"/>
              </a:rPr>
              <a:t>Syntiq</a:t>
            </a:r>
            <a:r>
              <a:rPr lang="en-IN" sz="50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endParaRPr sz="50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DF27DA-3B60-BF17-DB51-5133FD626158}"/>
              </a:ext>
            </a:extLst>
          </p:cNvPr>
          <p:cNvSpPr txBox="1"/>
          <p:nvPr/>
        </p:nvSpPr>
        <p:spPr>
          <a:xfrm>
            <a:off x="3641917" y="8039100"/>
            <a:ext cx="44448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5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Harshwardhan Songirkar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2555" y="479937"/>
            <a:ext cx="29698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Contents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4263012" y="2095442"/>
            <a:ext cx="5205095" cy="6162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0" indent="-36893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381635" algn="l"/>
              </a:tabLst>
            </a:pPr>
            <a:r>
              <a:rPr sz="3300" spc="130" dirty="0">
                <a:solidFill>
                  <a:srgbClr val="3F3F3F"/>
                </a:solidFill>
                <a:latin typeface="Times New Roman"/>
                <a:cs typeface="Times New Roman"/>
              </a:rPr>
              <a:t>Introduction</a:t>
            </a:r>
            <a:endParaRPr sz="3300">
              <a:latin typeface="Times New Roman"/>
              <a:cs typeface="Times New Roman"/>
            </a:endParaRPr>
          </a:p>
          <a:p>
            <a:pPr marL="1494790" lvl="1" indent="-536575">
              <a:lnSpc>
                <a:spcPct val="100000"/>
              </a:lnSpc>
              <a:spcBef>
                <a:spcPts val="40"/>
              </a:spcBef>
              <a:buClr>
                <a:srgbClr val="BF0000"/>
              </a:buClr>
              <a:buAutoNum type="arabicPeriod"/>
              <a:tabLst>
                <a:tab pos="1495425" algn="l"/>
              </a:tabLst>
            </a:pPr>
            <a:r>
              <a:rPr sz="2750" spc="-10" dirty="0">
                <a:solidFill>
                  <a:srgbClr val="3F3F3F"/>
                </a:solidFill>
                <a:latin typeface="Times New Roman"/>
                <a:cs typeface="Times New Roman"/>
              </a:rPr>
              <a:t>Overview</a:t>
            </a:r>
            <a:endParaRPr sz="2750">
              <a:latin typeface="Times New Roman"/>
              <a:cs typeface="Times New Roman"/>
            </a:endParaRPr>
          </a:p>
          <a:p>
            <a:pPr marL="1494790" lvl="1" indent="-536575">
              <a:lnSpc>
                <a:spcPts val="3290"/>
              </a:lnSpc>
              <a:buClr>
                <a:srgbClr val="BF0000"/>
              </a:buClr>
              <a:buAutoNum type="arabicPeriod"/>
              <a:tabLst>
                <a:tab pos="1495425" algn="l"/>
              </a:tabLst>
            </a:pPr>
            <a:r>
              <a:rPr sz="2750" spc="90" dirty="0">
                <a:solidFill>
                  <a:srgbClr val="3F3F3F"/>
                </a:solidFill>
                <a:latin typeface="Times New Roman"/>
                <a:cs typeface="Times New Roman"/>
              </a:rPr>
              <a:t>Purpose</a:t>
            </a:r>
            <a:endParaRPr sz="2750">
              <a:latin typeface="Times New Roman"/>
              <a:cs typeface="Times New Roman"/>
            </a:endParaRPr>
          </a:p>
          <a:p>
            <a:pPr marL="1129030" indent="-431800">
              <a:lnSpc>
                <a:spcPts val="3950"/>
              </a:lnSpc>
              <a:buClr>
                <a:srgbClr val="BF0000"/>
              </a:buClr>
              <a:buAutoNum type="arabicPeriod"/>
              <a:tabLst>
                <a:tab pos="1129665" algn="l"/>
              </a:tabLst>
            </a:pPr>
            <a:r>
              <a:rPr sz="3300" spc="114" dirty="0">
                <a:solidFill>
                  <a:srgbClr val="3F3F3F"/>
                </a:solidFill>
                <a:latin typeface="Times New Roman"/>
                <a:cs typeface="Times New Roman"/>
              </a:rPr>
              <a:t>Literature</a:t>
            </a:r>
            <a:r>
              <a:rPr sz="3300" spc="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300" spc="-10" dirty="0">
                <a:solidFill>
                  <a:srgbClr val="3F3F3F"/>
                </a:solidFill>
                <a:latin typeface="Times New Roman"/>
                <a:cs typeface="Times New Roman"/>
              </a:rPr>
              <a:t>Review</a:t>
            </a:r>
            <a:endParaRPr sz="3300">
              <a:latin typeface="Times New Roman"/>
              <a:cs typeface="Times New Roman"/>
            </a:endParaRPr>
          </a:p>
          <a:p>
            <a:pPr marL="697865" marR="503555">
              <a:lnSpc>
                <a:spcPct val="100400"/>
              </a:lnSpc>
              <a:buClr>
                <a:srgbClr val="BF0000"/>
              </a:buClr>
              <a:buAutoNum type="arabicPeriod"/>
              <a:tabLst>
                <a:tab pos="1235710" algn="l"/>
                <a:tab pos="1236345" algn="l"/>
              </a:tabLst>
            </a:pPr>
            <a:r>
              <a:rPr sz="3300" spc="110" dirty="0">
                <a:solidFill>
                  <a:srgbClr val="3F3F3F"/>
                </a:solidFill>
                <a:latin typeface="Times New Roman"/>
                <a:cs typeface="Times New Roman"/>
              </a:rPr>
              <a:t>Problem</a:t>
            </a:r>
            <a:r>
              <a:rPr sz="3300" spc="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300" spc="100" dirty="0">
                <a:solidFill>
                  <a:srgbClr val="3F3F3F"/>
                </a:solidFill>
                <a:latin typeface="Times New Roman"/>
                <a:cs typeface="Times New Roman"/>
              </a:rPr>
              <a:t>Statement </a:t>
            </a:r>
            <a:r>
              <a:rPr sz="3300" spc="105" dirty="0">
                <a:solidFill>
                  <a:srgbClr val="A42F0F"/>
                </a:solidFill>
                <a:latin typeface="Times New Roman"/>
                <a:cs typeface="Times New Roman"/>
              </a:rPr>
              <a:t>4.</a:t>
            </a:r>
            <a:r>
              <a:rPr sz="3300" spc="105" dirty="0">
                <a:solidFill>
                  <a:srgbClr val="3F3F3F"/>
                </a:solidFill>
                <a:latin typeface="Times New Roman"/>
                <a:cs typeface="Times New Roman"/>
              </a:rPr>
              <a:t>Proposed</a:t>
            </a:r>
            <a:r>
              <a:rPr sz="3300" spc="2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300" spc="90" dirty="0">
                <a:solidFill>
                  <a:srgbClr val="3F3F3F"/>
                </a:solidFill>
                <a:latin typeface="Times New Roman"/>
                <a:cs typeface="Times New Roman"/>
              </a:rPr>
              <a:t>Solution</a:t>
            </a:r>
            <a:endParaRPr sz="3300">
              <a:latin typeface="Times New Roman"/>
              <a:cs typeface="Times New Roman"/>
            </a:endParaRPr>
          </a:p>
          <a:p>
            <a:pPr marL="1129665" indent="-432434">
              <a:lnSpc>
                <a:spcPct val="100000"/>
              </a:lnSpc>
              <a:spcBef>
                <a:spcPts val="15"/>
              </a:spcBef>
              <a:buClr>
                <a:srgbClr val="BF0000"/>
              </a:buClr>
              <a:buAutoNum type="arabicPeriod" startAt="5"/>
              <a:tabLst>
                <a:tab pos="1130300" algn="l"/>
              </a:tabLst>
            </a:pPr>
            <a:r>
              <a:rPr sz="3300" spc="-10" dirty="0">
                <a:solidFill>
                  <a:srgbClr val="3F3F3F"/>
                </a:solidFill>
                <a:latin typeface="Times New Roman"/>
                <a:cs typeface="Times New Roman"/>
              </a:rPr>
              <a:t>Objectives</a:t>
            </a:r>
            <a:endParaRPr sz="3300">
              <a:latin typeface="Times New Roman"/>
              <a:cs typeface="Times New Roman"/>
            </a:endParaRPr>
          </a:p>
          <a:p>
            <a:pPr marL="1129665" indent="-432434">
              <a:lnSpc>
                <a:spcPct val="100000"/>
              </a:lnSpc>
              <a:spcBef>
                <a:spcPts val="15"/>
              </a:spcBef>
              <a:buClr>
                <a:srgbClr val="BF0000"/>
              </a:buClr>
              <a:buAutoNum type="arabicPeriod" startAt="5"/>
              <a:tabLst>
                <a:tab pos="1130300" algn="l"/>
              </a:tabLst>
            </a:pPr>
            <a:r>
              <a:rPr sz="3300" spc="85" dirty="0">
                <a:solidFill>
                  <a:srgbClr val="3F3F3F"/>
                </a:solidFill>
                <a:latin typeface="Times New Roman"/>
                <a:cs typeface="Times New Roman"/>
              </a:rPr>
              <a:t>Theoretical</a:t>
            </a:r>
            <a:r>
              <a:rPr sz="3300" spc="5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3300" spc="45" dirty="0">
                <a:solidFill>
                  <a:srgbClr val="3F3F3F"/>
                </a:solidFill>
                <a:latin typeface="Times New Roman"/>
                <a:cs typeface="Times New Roman"/>
              </a:rPr>
              <a:t>Analysis</a:t>
            </a:r>
            <a:endParaRPr sz="3300">
              <a:latin typeface="Times New Roman"/>
              <a:cs typeface="Times New Roman"/>
            </a:endParaRPr>
          </a:p>
          <a:p>
            <a:pPr marL="1494790" lvl="1" indent="-536575">
              <a:lnSpc>
                <a:spcPct val="100000"/>
              </a:lnSpc>
              <a:spcBef>
                <a:spcPts val="40"/>
              </a:spcBef>
              <a:buClr>
                <a:srgbClr val="BF0000"/>
              </a:buClr>
              <a:buAutoNum type="arabicPeriod"/>
              <a:tabLst>
                <a:tab pos="1495425" algn="l"/>
              </a:tabLst>
            </a:pPr>
            <a:r>
              <a:rPr sz="2750" spc="50" dirty="0">
                <a:solidFill>
                  <a:srgbClr val="3F3F3F"/>
                </a:solidFill>
                <a:latin typeface="Times New Roman"/>
                <a:cs typeface="Times New Roman"/>
              </a:rPr>
              <a:t>Block</a:t>
            </a:r>
            <a:r>
              <a:rPr sz="2750" spc="1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114" dirty="0">
                <a:solidFill>
                  <a:srgbClr val="3F3F3F"/>
                </a:solidFill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1494790" lvl="1" indent="-536575">
              <a:lnSpc>
                <a:spcPct val="100000"/>
              </a:lnSpc>
              <a:buClr>
                <a:srgbClr val="BF0000"/>
              </a:buClr>
              <a:buAutoNum type="arabicPeriod"/>
              <a:tabLst>
                <a:tab pos="1495425" algn="l"/>
              </a:tabLst>
            </a:pPr>
            <a:r>
              <a:rPr sz="2750" spc="135" dirty="0">
                <a:solidFill>
                  <a:srgbClr val="3F3F3F"/>
                </a:solidFill>
                <a:latin typeface="Times New Roman"/>
                <a:cs typeface="Times New Roman"/>
              </a:rPr>
              <a:t>Hardware</a:t>
            </a:r>
            <a:r>
              <a:rPr sz="2750" spc="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75" dirty="0">
                <a:solidFill>
                  <a:srgbClr val="3F3F3F"/>
                </a:solidFill>
                <a:latin typeface="Times New Roman"/>
                <a:cs typeface="Times New Roman"/>
              </a:rPr>
              <a:t>Requirements</a:t>
            </a:r>
            <a:endParaRPr sz="2750">
              <a:latin typeface="Times New Roman"/>
              <a:cs typeface="Times New Roman"/>
            </a:endParaRPr>
          </a:p>
          <a:p>
            <a:pPr marL="1494790" lvl="1" indent="-536575">
              <a:lnSpc>
                <a:spcPts val="3290"/>
              </a:lnSpc>
              <a:buClr>
                <a:srgbClr val="BF0000"/>
              </a:buClr>
              <a:buAutoNum type="arabicPeriod"/>
              <a:tabLst>
                <a:tab pos="1495425" algn="l"/>
              </a:tabLst>
            </a:pPr>
            <a:r>
              <a:rPr sz="2750" spc="70" dirty="0">
                <a:solidFill>
                  <a:srgbClr val="3F3F3F"/>
                </a:solidFill>
                <a:latin typeface="Times New Roman"/>
                <a:cs typeface="Times New Roman"/>
              </a:rPr>
              <a:t>Software</a:t>
            </a:r>
            <a:r>
              <a:rPr sz="2750" spc="4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750" spc="80" dirty="0">
                <a:solidFill>
                  <a:srgbClr val="3F3F3F"/>
                </a:solidFill>
                <a:latin typeface="Times New Roman"/>
                <a:cs typeface="Times New Roman"/>
              </a:rPr>
              <a:t>Requirements</a:t>
            </a:r>
            <a:endParaRPr sz="2750">
              <a:latin typeface="Times New Roman"/>
              <a:cs typeface="Times New Roman"/>
            </a:endParaRPr>
          </a:p>
          <a:p>
            <a:pPr marL="1129665" indent="-432434">
              <a:lnSpc>
                <a:spcPts val="3950"/>
              </a:lnSpc>
              <a:buClr>
                <a:srgbClr val="BF0000"/>
              </a:buClr>
              <a:buAutoNum type="arabicPeriod" startAt="5"/>
              <a:tabLst>
                <a:tab pos="1130300" algn="l"/>
              </a:tabLst>
            </a:pPr>
            <a:r>
              <a:rPr sz="3300" spc="80" dirty="0">
                <a:solidFill>
                  <a:srgbClr val="3F3F3F"/>
                </a:solidFill>
                <a:latin typeface="Times New Roman"/>
                <a:cs typeface="Times New Roman"/>
              </a:rPr>
              <a:t>Applications</a:t>
            </a:r>
            <a:endParaRPr sz="3300">
              <a:latin typeface="Times New Roman"/>
              <a:cs typeface="Times New Roman"/>
            </a:endParaRPr>
          </a:p>
          <a:p>
            <a:pPr marL="1129665" indent="-432434">
              <a:lnSpc>
                <a:spcPct val="100000"/>
              </a:lnSpc>
              <a:spcBef>
                <a:spcPts val="15"/>
              </a:spcBef>
              <a:buClr>
                <a:srgbClr val="BF0000"/>
              </a:buClr>
              <a:buAutoNum type="arabicPeriod" startAt="5"/>
              <a:tabLst>
                <a:tab pos="1130300" algn="l"/>
              </a:tabLst>
            </a:pPr>
            <a:r>
              <a:rPr sz="3300" spc="45" dirty="0">
                <a:solidFill>
                  <a:srgbClr val="3F3F3F"/>
                </a:solidFill>
                <a:latin typeface="Times New Roman"/>
                <a:cs typeface="Times New Roman"/>
              </a:rPr>
              <a:t>References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49618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235" dirty="0"/>
              <a:t>Introduction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3919538" y="1841170"/>
            <a:ext cx="13647419" cy="7700185"/>
          </a:xfrm>
          <a:prstGeom prst="rect">
            <a:avLst/>
          </a:prstGeom>
        </p:spPr>
        <p:txBody>
          <a:bodyPr vert="horz" wrap="square" lIns="0" tIns="2800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205"/>
              </a:spcBef>
            </a:pPr>
            <a:r>
              <a:rPr sz="3600" dirty="0">
                <a:latin typeface="Times New Roman"/>
                <a:cs typeface="Times New Roman"/>
              </a:rPr>
              <a:t>1.1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Overview:</a:t>
            </a:r>
            <a:endParaRPr sz="3600" dirty="0">
              <a:latin typeface="Times New Roman"/>
              <a:cs typeface="Times New Roman"/>
            </a:endParaRPr>
          </a:p>
          <a:p>
            <a:pPr marL="12700" marR="1266190" algn="just">
              <a:lnSpc>
                <a:spcPct val="100000"/>
              </a:lnSpc>
              <a:spcBef>
                <a:spcPts val="1755"/>
              </a:spcBef>
              <a:buChar char="•"/>
              <a:tabLst>
                <a:tab pos="241300" algn="l"/>
              </a:tabLst>
            </a:pPr>
            <a:r>
              <a:rPr sz="3000" spc="-10" dirty="0">
                <a:latin typeface="Times New Roman"/>
                <a:cs typeface="Times New Roman"/>
              </a:rPr>
              <a:t>AI-</a:t>
            </a:r>
            <a:r>
              <a:rPr sz="3000" dirty="0">
                <a:latin typeface="Times New Roman"/>
                <a:cs typeface="Times New Roman"/>
              </a:rPr>
              <a:t>Powered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lang="en-US" sz="3000" spc="-20" dirty="0">
                <a:latin typeface="Times New Roman"/>
                <a:cs typeface="Times New Roman"/>
              </a:rPr>
              <a:t>Coding Practice Platform helps users improve programming skills through interactive coding challenges.</a:t>
            </a:r>
          </a:p>
          <a:p>
            <a:pPr marL="12700" marR="1266190" algn="just">
              <a:lnSpc>
                <a:spcPct val="100000"/>
              </a:lnSpc>
              <a:spcBef>
                <a:spcPts val="1755"/>
              </a:spcBef>
              <a:buChar char="•"/>
              <a:tabLst>
                <a:tab pos="241300" algn="l"/>
              </a:tabLst>
            </a:pPr>
            <a:r>
              <a:rPr lang="en-US" sz="3000" spc="-20" dirty="0">
                <a:latin typeface="Times New Roman"/>
                <a:cs typeface="Times New Roman"/>
              </a:rPr>
              <a:t>It provides topic-wise and difficulty-based coding problems for structured learning.</a:t>
            </a:r>
          </a:p>
          <a:p>
            <a:pPr marL="12700" marR="1266190" algn="just">
              <a:lnSpc>
                <a:spcPct val="100000"/>
              </a:lnSpc>
              <a:spcBef>
                <a:spcPts val="1755"/>
              </a:spcBef>
              <a:buChar char="•"/>
              <a:tabLst>
                <a:tab pos="241300" algn="l"/>
              </a:tabLst>
            </a:pPr>
            <a:r>
              <a:rPr lang="en-US" sz="3000" spc="-20" dirty="0">
                <a:latin typeface="Times New Roman"/>
                <a:cs typeface="Times New Roman"/>
              </a:rPr>
              <a:t>AI analyzes user performance and recommends suitable problems with instant feedback.</a:t>
            </a:r>
          </a:p>
          <a:p>
            <a:pPr marL="12700" marR="1266190" algn="just">
              <a:lnSpc>
                <a:spcPct val="100000"/>
              </a:lnSpc>
              <a:spcBef>
                <a:spcPts val="1755"/>
              </a:spcBef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1.2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Purpose:</a:t>
            </a:r>
            <a:endParaRPr sz="3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455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To provide an intelligent coding practice platform.</a:t>
            </a:r>
          </a:p>
          <a:p>
            <a:pPr marL="12700" marR="5080" algn="just">
              <a:lnSpc>
                <a:spcPct val="100000"/>
              </a:lnSpc>
              <a:spcBef>
                <a:spcPts val="1455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To improve programming and problem-solving skills.</a:t>
            </a:r>
          </a:p>
          <a:p>
            <a:pPr marL="12700" marR="5080" algn="just">
              <a:lnSpc>
                <a:spcPct val="100000"/>
              </a:lnSpc>
              <a:spcBef>
                <a:spcPts val="1455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To deliver AI-based personalized learning.</a:t>
            </a:r>
          </a:p>
          <a:p>
            <a:pPr marL="12700" marR="5080" algn="just">
              <a:lnSpc>
                <a:spcPct val="100000"/>
              </a:lnSpc>
              <a:spcBef>
                <a:spcPts val="1455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To support coding interview and competitive programming preparation.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4258945" algn="l"/>
              </a:tabLst>
            </a:pPr>
            <a:r>
              <a:rPr spc="-25" dirty="0"/>
              <a:t>2.</a:t>
            </a:r>
            <a:r>
              <a:rPr dirty="0"/>
              <a:t>	</a:t>
            </a:r>
            <a:r>
              <a:rPr spc="200" dirty="0"/>
              <a:t>Literature</a:t>
            </a:r>
            <a:r>
              <a:rPr dirty="0"/>
              <a:t>	</a:t>
            </a:r>
            <a:r>
              <a:rPr spc="50" dirty="0"/>
              <a:t>Review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85059" y="1719468"/>
            <a:ext cx="133349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57600" y="1378655"/>
            <a:ext cx="12418060" cy="1284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5080">
              <a:lnSpc>
                <a:spcPct val="119800"/>
              </a:lnSpc>
              <a:spcBef>
                <a:spcPts val="100"/>
              </a:spcBef>
            </a:pPr>
            <a:r>
              <a:rPr lang="en-US" sz="3600" dirty="0">
                <a:latin typeface="Times New Roman"/>
                <a:cs typeface="Times New Roman"/>
              </a:rPr>
              <a:t>Existing coding platforms provide a wide range of programming problems but offer limited personalized learning support.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12FDBB9-8801-C634-D9F5-D1851B18E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617224"/>
              </p:ext>
            </p:extLst>
          </p:nvPr>
        </p:nvGraphicFramePr>
        <p:xfrm>
          <a:off x="2090003" y="3036429"/>
          <a:ext cx="16078202" cy="61401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5633">
                  <a:extLst>
                    <a:ext uri="{9D8B030D-6E8A-4147-A177-3AD203B41FA5}">
                      <a16:colId xmlns:a16="http://schemas.microsoft.com/office/drawing/2014/main" val="586047211"/>
                    </a:ext>
                  </a:extLst>
                </a:gridCol>
                <a:gridCol w="3471166">
                  <a:extLst>
                    <a:ext uri="{9D8B030D-6E8A-4147-A177-3AD203B41FA5}">
                      <a16:colId xmlns:a16="http://schemas.microsoft.com/office/drawing/2014/main" val="3422415585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3281864675"/>
                    </a:ext>
                  </a:extLst>
                </a:gridCol>
                <a:gridCol w="5562603">
                  <a:extLst>
                    <a:ext uri="{9D8B030D-6E8A-4147-A177-3AD203B41FA5}">
                      <a16:colId xmlns:a16="http://schemas.microsoft.com/office/drawing/2014/main" val="1047095474"/>
                    </a:ext>
                  </a:extLst>
                </a:gridCol>
              </a:tblGrid>
              <a:tr h="71701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Name of Solutions/System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Limitations/Drawbacks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6766"/>
                  </a:ext>
                </a:extLst>
              </a:tr>
              <a:tr h="132928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LeetCode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challenges, contests, interview preparation.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AI-based guidance and personalized feedback.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041477"/>
                  </a:ext>
                </a:extLst>
              </a:tr>
              <a:tr h="132928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HackerRank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 assessments, certifications, multiple languages.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recommendations and limited adaptive learning.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944233"/>
                  </a:ext>
                </a:extLst>
              </a:tr>
              <a:tr h="132928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CodeChef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Competitive programming contests and practice problems.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focus on beginner-friendly personalized learning.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67590"/>
                  </a:ext>
                </a:extLst>
              </a:tr>
              <a:tr h="132928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Codeforces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algorithmic problems and global rankings. 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for beginners and lacks intelligent learning support.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4486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70345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3743325" algn="l"/>
              </a:tabLst>
            </a:pPr>
            <a:r>
              <a:rPr spc="-25" dirty="0"/>
              <a:t>3.</a:t>
            </a:r>
            <a:r>
              <a:rPr dirty="0"/>
              <a:t>	</a:t>
            </a:r>
            <a:r>
              <a:rPr spc="160" dirty="0"/>
              <a:t>Problem</a:t>
            </a:r>
            <a:r>
              <a:rPr dirty="0"/>
              <a:t>	</a:t>
            </a:r>
            <a:r>
              <a:rPr spc="180" dirty="0"/>
              <a:t>Statement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3943505" y="2230043"/>
            <a:ext cx="13030200" cy="68798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Many beginners find it difficult to select coding problems that match their current skill level and learning pace.</a:t>
            </a:r>
          </a:p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Existing coding platforms mainly focus on problem solving and provide limited personalized feedback or AI-based guidance.</a:t>
            </a:r>
          </a:p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Users often spend significant time identifying errors and improving their solutions without proper assistance.</a:t>
            </a:r>
          </a:p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07950" marR="532765" indent="-95250" algn="just">
              <a:lnSpc>
                <a:spcPct val="1354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dirty="0">
                <a:latin typeface="Times New Roman"/>
                <a:cs typeface="Times New Roman"/>
              </a:rPr>
              <a:t>The absence of adaptive learning and performance-based recommendations slows skill development and interview preparation.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7000"/>
            <a:chOff x="-59" y="0"/>
            <a:chExt cx="427736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342899"/>
              <a:ext cx="4276799" cy="9944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92833" y="485310"/>
            <a:ext cx="68275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4044315" algn="l"/>
              </a:tabLst>
            </a:pPr>
            <a:r>
              <a:rPr spc="-25" dirty="0"/>
              <a:t>4.</a:t>
            </a:r>
            <a:r>
              <a:rPr dirty="0"/>
              <a:t>	</a:t>
            </a:r>
            <a:r>
              <a:rPr spc="185" dirty="0"/>
              <a:t>Proposed</a:t>
            </a:r>
            <a:r>
              <a:rPr dirty="0"/>
              <a:t>	</a:t>
            </a:r>
            <a:r>
              <a:rPr spc="165" dirty="0"/>
              <a:t>Solution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2678711" y="1471693"/>
            <a:ext cx="14991080" cy="76319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40690">
              <a:lnSpc>
                <a:spcPct val="1167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AI-</a:t>
            </a:r>
            <a:r>
              <a:rPr sz="3000" b="1" dirty="0">
                <a:latin typeface="Times New Roman"/>
                <a:cs typeface="Times New Roman"/>
              </a:rPr>
              <a:t>Powered</a:t>
            </a:r>
            <a:r>
              <a:rPr lang="en-US" sz="3000" b="1" dirty="0">
                <a:latin typeface="Times New Roman"/>
                <a:cs typeface="Times New Roman"/>
              </a:rPr>
              <a:t> Problem Recommendation: </a:t>
            </a:r>
            <a:r>
              <a:rPr lang="en-US" sz="3000" dirty="0">
                <a:latin typeface="Times New Roman"/>
                <a:cs typeface="Times New Roman"/>
              </a:rPr>
              <a:t>Analyzes user performance and suggests coding problems based on skill level, accuracy, and learning progress.</a:t>
            </a:r>
          </a:p>
          <a:p>
            <a:pPr marL="12700" marR="440690">
              <a:lnSpc>
                <a:spcPct val="116700"/>
              </a:lnSpc>
              <a:spcBef>
                <a:spcPts val="95"/>
              </a:spcBef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2700" marR="440690">
              <a:lnSpc>
                <a:spcPct val="1167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Automated Code Evaluation: </a:t>
            </a:r>
            <a:r>
              <a:rPr lang="en-US" sz="3000" dirty="0">
                <a:latin typeface="Times New Roman"/>
                <a:cs typeface="Times New Roman"/>
              </a:rPr>
              <a:t>Executes submitted programs against predefined test cases and provides instant results with detailed feedback.</a:t>
            </a:r>
          </a:p>
          <a:p>
            <a:pPr marL="12700" marR="440690">
              <a:lnSpc>
                <a:spcPct val="116700"/>
              </a:lnSpc>
              <a:spcBef>
                <a:spcPts val="95"/>
              </a:spcBef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2700" marR="440690">
              <a:lnSpc>
                <a:spcPct val="1167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Intelligent Hint &amp; Code Analysis: </a:t>
            </a:r>
            <a:r>
              <a:rPr lang="en-US" sz="3000" dirty="0">
                <a:latin typeface="Times New Roman"/>
                <a:cs typeface="Times New Roman"/>
              </a:rPr>
              <a:t>Generates AI-based hints, identifies logical errors, and explains concepts without directly revealing the complete solution.</a:t>
            </a:r>
          </a:p>
          <a:p>
            <a:pPr marL="12700" marR="440690">
              <a:lnSpc>
                <a:spcPct val="116700"/>
              </a:lnSpc>
              <a:spcBef>
                <a:spcPts val="95"/>
              </a:spcBef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2700" marR="440690">
              <a:lnSpc>
                <a:spcPct val="1167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Personalized Progress Dashboard: </a:t>
            </a:r>
            <a:r>
              <a:rPr lang="en-US" sz="3000" dirty="0">
                <a:latin typeface="Times New Roman"/>
                <a:cs typeface="Times New Roman"/>
              </a:rPr>
              <a:t>Tracks solved problems, coding streaks, topic-wise performance, and overall improvement through interactive analytics.</a:t>
            </a:r>
          </a:p>
          <a:p>
            <a:pPr marL="12700" marR="440690">
              <a:lnSpc>
                <a:spcPct val="116700"/>
              </a:lnSpc>
              <a:spcBef>
                <a:spcPts val="95"/>
              </a:spcBef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12700" marR="440690">
              <a:lnSpc>
                <a:spcPct val="1167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Online Coding Environment: </a:t>
            </a:r>
            <a:r>
              <a:rPr lang="en-US" sz="3000" dirty="0">
                <a:latin typeface="Times New Roman"/>
                <a:cs typeface="Times New Roman"/>
              </a:rPr>
              <a:t>Integrates a secure code editor, multi-language support, and real-time execution to create a seamless coding practice experience.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41541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pc="-25" dirty="0"/>
              <a:t>5.</a:t>
            </a:r>
            <a:r>
              <a:rPr dirty="0"/>
              <a:t>	</a:t>
            </a:r>
            <a:r>
              <a:rPr spc="40" dirty="0"/>
              <a:t>Objectives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3290254" y="1869604"/>
            <a:ext cx="13215619" cy="6578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Enhance Coding Skills: </a:t>
            </a:r>
            <a:r>
              <a:rPr lang="en-US" sz="3000" dirty="0">
                <a:latin typeface="Times New Roman"/>
                <a:cs typeface="Times New Roman"/>
              </a:rPr>
              <a:t>Provide a structured platform for practicing coding problems across different topics and difficulty levels.</a:t>
            </a:r>
          </a:p>
          <a:p>
            <a:pPr marL="12065" algn="just">
              <a:lnSpc>
                <a:spcPct val="100000"/>
              </a:lnSpc>
              <a:spcBef>
                <a:spcPts val="100"/>
              </a:spcBef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Integrate Artificial Intelligence: </a:t>
            </a:r>
            <a:r>
              <a:rPr lang="en-US" sz="3000" dirty="0">
                <a:latin typeface="Times New Roman"/>
                <a:cs typeface="Times New Roman"/>
              </a:rPr>
              <a:t>Utilize AI to deliver personalized problem recommendations, hints, and performance insights.</a:t>
            </a: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Automate Code Evaluation: </a:t>
            </a:r>
            <a:r>
              <a:rPr lang="en-US" sz="3000" dirty="0">
                <a:latin typeface="Times New Roman"/>
                <a:cs typeface="Times New Roman"/>
              </a:rPr>
              <a:t>Execute user submissions against test cases and generate instant, accurate feedback.</a:t>
            </a: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Track Learning Progress: </a:t>
            </a:r>
            <a:r>
              <a:rPr lang="en-US" sz="3000" dirty="0">
                <a:latin typeface="Times New Roman"/>
                <a:cs typeface="Times New Roman"/>
              </a:rPr>
              <a:t>Maintain coding history, accuracy, solved problems, and topic-wise performance through an interactive dashboard.</a:t>
            </a: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lang="en-US"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en-US" sz="3000" b="1" dirty="0">
                <a:latin typeface="Times New Roman"/>
                <a:cs typeface="Times New Roman"/>
              </a:rPr>
              <a:t>Support Interview Preparation: </a:t>
            </a:r>
            <a:r>
              <a:rPr lang="en-US" sz="3000" dirty="0">
                <a:latin typeface="Times New Roman"/>
                <a:cs typeface="Times New Roman"/>
              </a:rPr>
              <a:t>Help students strengthen problem-solving abilities and improve confidence for technical interviews and competitive programming.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74561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4672965" algn="l"/>
              </a:tabLst>
            </a:pPr>
            <a:r>
              <a:rPr spc="-25" dirty="0"/>
              <a:t>6.</a:t>
            </a:r>
            <a:r>
              <a:rPr dirty="0"/>
              <a:t>	</a:t>
            </a:r>
            <a:r>
              <a:rPr spc="135" dirty="0"/>
              <a:t>Theoretical</a:t>
            </a:r>
            <a:r>
              <a:rPr dirty="0"/>
              <a:t>	</a:t>
            </a:r>
            <a:r>
              <a:rPr spc="70" dirty="0"/>
              <a:t>Analysis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05983" y="1642279"/>
            <a:ext cx="13162280" cy="107119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3000" b="1" dirty="0">
                <a:latin typeface="Times New Roman"/>
                <a:cs typeface="Times New Roman"/>
              </a:rPr>
              <a:t>6.1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System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Architecture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&amp;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Flow:</a:t>
            </a:r>
            <a:endParaRPr sz="3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4200"/>
              </a:lnSpc>
              <a:spcBef>
                <a:spcPts val="240"/>
              </a:spcBef>
              <a:buChar char="•"/>
              <a:tabLst>
                <a:tab pos="241300" algn="l"/>
              </a:tabLst>
            </a:pPr>
            <a:endParaRPr lang="en-IN" sz="3000" b="1" spc="-25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78871" y="9532635"/>
            <a:ext cx="236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3000">
              <a:latin typeface="Century Gothic"/>
              <a:cs typeface="Century Gothic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4CCF6B-E175-E068-D831-A27E50A85A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0" y="2344758"/>
            <a:ext cx="18241842" cy="77872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2F2E9-5F99-5310-9513-AAC3B01A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3E3A945-8CF1-9CD8-8B5F-F85BC286A451}"/>
              </a:ext>
            </a:extLst>
          </p:cNvPr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E1ADBA6-08AF-5611-3061-027DCF09F4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4233576-5485-4FDC-22FC-A97EDA6000AE}"/>
                </a:ext>
              </a:extLst>
            </p:cNvPr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ACD0BB0-4612-B463-C74B-1E1728D7631B}"/>
              </a:ext>
            </a:extLst>
          </p:cNvPr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317FCD1B-E118-C548-9BAF-4EDCF1A53AB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E6F2A5E-007B-F529-C1DA-683E829D727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71C865FE-0BCE-FAE0-886A-0CD06336000A}"/>
              </a:ext>
            </a:extLst>
          </p:cNvPr>
          <p:cNvSpPr txBox="1"/>
          <p:nvPr/>
        </p:nvSpPr>
        <p:spPr>
          <a:xfrm>
            <a:off x="3657600" y="170988"/>
            <a:ext cx="13162280" cy="107119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lang="en-IN" sz="3000" b="1" spc="-20" dirty="0">
                <a:latin typeface="Times New Roman"/>
                <a:cs typeface="Times New Roman"/>
              </a:rPr>
              <a:t>Database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Architecture</a:t>
            </a:r>
            <a:r>
              <a:rPr sz="3000" b="1" spc="-10" dirty="0">
                <a:latin typeface="Times New Roman"/>
                <a:cs typeface="Times New Roman"/>
              </a:rPr>
              <a:t>:</a:t>
            </a:r>
            <a:endParaRPr sz="3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4200"/>
              </a:lnSpc>
              <a:spcBef>
                <a:spcPts val="240"/>
              </a:spcBef>
              <a:buChar char="•"/>
              <a:tabLst>
                <a:tab pos="241300" algn="l"/>
              </a:tabLst>
            </a:pPr>
            <a:endParaRPr lang="en-IN" sz="3000" b="1" spc="-25" dirty="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14CB19-57EC-8971-443D-F5AE9A413EED}"/>
              </a:ext>
            </a:extLst>
          </p:cNvPr>
          <p:cNvSpPr txBox="1"/>
          <p:nvPr/>
        </p:nvSpPr>
        <p:spPr>
          <a:xfrm>
            <a:off x="17778871" y="9532635"/>
            <a:ext cx="236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3000">
              <a:latin typeface="Century Gothic"/>
              <a:cs typeface="Century Gothic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AE482F-9320-BB1E-F45C-B71A866AC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75" y="1104900"/>
            <a:ext cx="17908220" cy="918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8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B28A-1063-96E8-EE14-3465E176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A24C42F-5476-CBB9-7F20-C2029BBE0A2A}"/>
              </a:ext>
            </a:extLst>
          </p:cNvPr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B301298-0FD8-0FDD-BA36-B0023E6C18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5A0690C-7349-56F0-516B-7508502E5CA3}"/>
                </a:ext>
              </a:extLst>
            </p:cNvPr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EF3755E-F1DE-4CC7-EA28-C9531FD8F1F6}"/>
              </a:ext>
            </a:extLst>
          </p:cNvPr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0EDA5BE9-DBF5-40F1-2CF4-CF3000662D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CE53532D-BE1C-E688-F4ED-83BDCB1B1F7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3E93CD11-429D-1DEB-FC00-74E37191789B}"/>
              </a:ext>
            </a:extLst>
          </p:cNvPr>
          <p:cNvSpPr txBox="1"/>
          <p:nvPr/>
        </p:nvSpPr>
        <p:spPr>
          <a:xfrm>
            <a:off x="3657600" y="170988"/>
            <a:ext cx="13162280" cy="107119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lang="en-IN" sz="3000" b="1" spc="-20" dirty="0">
                <a:latin typeface="Times New Roman"/>
                <a:cs typeface="Times New Roman"/>
              </a:rPr>
              <a:t>Submission Flow</a:t>
            </a:r>
            <a:r>
              <a:rPr sz="3000" b="1" spc="-10" dirty="0">
                <a:latin typeface="Times New Roman"/>
                <a:cs typeface="Times New Roman"/>
              </a:rPr>
              <a:t>:</a:t>
            </a:r>
            <a:endParaRPr sz="3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4200"/>
              </a:lnSpc>
              <a:spcBef>
                <a:spcPts val="240"/>
              </a:spcBef>
              <a:buChar char="•"/>
              <a:tabLst>
                <a:tab pos="241300" algn="l"/>
              </a:tabLst>
            </a:pPr>
            <a:endParaRPr lang="en-IN" sz="3000" b="1" spc="-25" dirty="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563F633-0481-FFFA-0327-EEA106845EEF}"/>
              </a:ext>
            </a:extLst>
          </p:cNvPr>
          <p:cNvSpPr txBox="1"/>
          <p:nvPr/>
        </p:nvSpPr>
        <p:spPr>
          <a:xfrm>
            <a:off x="17778871" y="9532635"/>
            <a:ext cx="236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3000">
              <a:latin typeface="Century Gothic"/>
              <a:cs typeface="Century Gothic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305B04-833A-C96F-FFDC-F112572BDA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932262"/>
            <a:ext cx="8133907" cy="941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63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D235-B80C-31DF-C3BD-7A9F7829B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5E584EB-427B-D613-1C30-59A5E7D25753}"/>
              </a:ext>
            </a:extLst>
          </p:cNvPr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AD35D24-499E-26E0-8B44-15E662D229D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370A41-E4B2-837A-9B49-33545D4AA33F}"/>
                </a:ext>
              </a:extLst>
            </p:cNvPr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7671E96-62E5-50A0-5A5B-F8D2D839BC78}"/>
              </a:ext>
            </a:extLst>
          </p:cNvPr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FA33D37D-ECEB-23B7-04CE-23FA167E1E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3C8D386-BC88-8A47-EC6C-662985112B6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CE677C44-1E89-023B-7119-92D3F7F2C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74561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4672965" algn="l"/>
              </a:tabLst>
            </a:pPr>
            <a:r>
              <a:rPr spc="-25" dirty="0"/>
              <a:t>6.</a:t>
            </a:r>
            <a:r>
              <a:rPr dirty="0"/>
              <a:t>	</a:t>
            </a:r>
            <a:r>
              <a:rPr spc="135" dirty="0"/>
              <a:t>Theoretical</a:t>
            </a:r>
            <a:r>
              <a:rPr dirty="0"/>
              <a:t>	</a:t>
            </a:r>
            <a:r>
              <a:rPr spc="70" dirty="0"/>
              <a:t>Analysis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1D83833-28DC-89D8-6261-F186034203D5}"/>
              </a:ext>
            </a:extLst>
          </p:cNvPr>
          <p:cNvSpPr txBox="1"/>
          <p:nvPr/>
        </p:nvSpPr>
        <p:spPr>
          <a:xfrm>
            <a:off x="3905983" y="1642279"/>
            <a:ext cx="13162280" cy="711733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 algn="just">
              <a:lnSpc>
                <a:spcPts val="4200"/>
              </a:lnSpc>
              <a:spcBef>
                <a:spcPts val="240"/>
              </a:spcBef>
              <a:tabLst>
                <a:tab pos="241300" algn="l"/>
              </a:tabLst>
            </a:pPr>
            <a:endParaRPr lang="en-IN" sz="3000" spc="-25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4200"/>
              </a:lnSpc>
              <a:spcBef>
                <a:spcPts val="240"/>
              </a:spcBef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6.2 Hardware </a:t>
            </a:r>
            <a:r>
              <a:rPr sz="3000" b="1" spc="-10" dirty="0">
                <a:latin typeface="Times New Roman"/>
                <a:cs typeface="Times New Roman"/>
              </a:rPr>
              <a:t>Requirements:</a:t>
            </a:r>
            <a:endParaRPr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lang="en-IN" sz="3000" dirty="0">
                <a:latin typeface="Times New Roman"/>
                <a:cs typeface="Times New Roman"/>
              </a:rPr>
              <a:t>or: Intel Core i3/i5 or equivalent.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RAM: Minimum 4 GB (8 GB recommended).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Storage: 5 GB free disk space.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Network: Stable internet connection for AI API access.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endParaRPr lang="en-IN"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6.3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Software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Requirements:</a:t>
            </a:r>
            <a:endParaRPr sz="3000" dirty="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Operating</a:t>
            </a:r>
            <a:r>
              <a:rPr lang="en-IN" sz="3000" dirty="0">
                <a:latin typeface="Times New Roman"/>
                <a:cs typeface="Times New Roman"/>
              </a:rPr>
              <a:t> System: Windows 10/11, Linux, or macOS.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Frontend: React.js, HTML, CSS, JavaScript.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Backend: Node.js, Express.js.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Database: MongoDB.</a:t>
            </a:r>
          </a:p>
          <a:p>
            <a:pPr marL="240665" indent="-22860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lang="en-IN" sz="3000" dirty="0">
                <a:latin typeface="Times New Roman"/>
                <a:cs typeface="Times New Roman"/>
              </a:rPr>
              <a:t>AI Integration: Gemini API/OpenAI API.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963F6C5-6A8E-47D0-4609-68B724C09862}"/>
              </a:ext>
            </a:extLst>
          </p:cNvPr>
          <p:cNvSpPr txBox="1"/>
          <p:nvPr/>
        </p:nvSpPr>
        <p:spPr>
          <a:xfrm>
            <a:off x="17778871" y="9532635"/>
            <a:ext cx="236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30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3588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47644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7.Applications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542397" y="9486153"/>
            <a:ext cx="511175" cy="5702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3000" spc="-25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264129" y="2096693"/>
            <a:ext cx="15759740" cy="64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0815" marR="5080" algn="just">
              <a:lnSpc>
                <a:spcPct val="127099"/>
              </a:lnSpc>
              <a:spcBef>
                <a:spcPts val="100"/>
              </a:spcBef>
              <a:buChar char="•"/>
              <a:tabLst>
                <a:tab pos="2939415" algn="l"/>
              </a:tabLst>
            </a:pPr>
            <a:r>
              <a:rPr lang="en-US" dirty="0"/>
              <a:t>Programming Education: Helps students strengthen coding and problem-solving skills through regular practice.</a:t>
            </a:r>
          </a:p>
          <a:p>
            <a:pPr marL="2710815" marR="5080" algn="just">
              <a:lnSpc>
                <a:spcPct val="127099"/>
              </a:lnSpc>
              <a:spcBef>
                <a:spcPts val="100"/>
              </a:spcBef>
              <a:tabLst>
                <a:tab pos="2939415" algn="l"/>
              </a:tabLst>
            </a:pPr>
            <a:endParaRPr lang="en-US" dirty="0"/>
          </a:p>
          <a:p>
            <a:pPr marL="2710815" marR="5080" algn="just">
              <a:lnSpc>
                <a:spcPct val="127099"/>
              </a:lnSpc>
              <a:spcBef>
                <a:spcPts val="100"/>
              </a:spcBef>
              <a:buChar char="•"/>
              <a:tabLst>
                <a:tab pos="2939415" algn="l"/>
              </a:tabLst>
            </a:pPr>
            <a:r>
              <a:rPr lang="en-US" dirty="0"/>
              <a:t>Technical Interview Preparation: Provides structured coding challenges for placement and interview readiness.</a:t>
            </a:r>
          </a:p>
          <a:p>
            <a:pPr marL="2710815" marR="5080" algn="just">
              <a:lnSpc>
                <a:spcPct val="127099"/>
              </a:lnSpc>
              <a:spcBef>
                <a:spcPts val="100"/>
              </a:spcBef>
              <a:tabLst>
                <a:tab pos="2939415" algn="l"/>
              </a:tabLst>
            </a:pPr>
            <a:endParaRPr lang="en-US" dirty="0"/>
          </a:p>
          <a:p>
            <a:pPr marL="2710815" marR="5080" algn="just">
              <a:lnSpc>
                <a:spcPct val="127099"/>
              </a:lnSpc>
              <a:spcBef>
                <a:spcPts val="100"/>
              </a:spcBef>
              <a:buChar char="•"/>
              <a:tabLst>
                <a:tab pos="2939415" algn="l"/>
              </a:tabLst>
            </a:pPr>
            <a:r>
              <a:rPr lang="en-US" dirty="0"/>
              <a:t>Competitive Programming: Enables users to improve coding speed, accuracy, and algorithmic thinking.</a:t>
            </a:r>
          </a:p>
          <a:p>
            <a:pPr marL="2710815" marR="5080" algn="just">
              <a:lnSpc>
                <a:spcPct val="127099"/>
              </a:lnSpc>
              <a:spcBef>
                <a:spcPts val="100"/>
              </a:spcBef>
              <a:tabLst>
                <a:tab pos="2939415" algn="l"/>
              </a:tabLst>
            </a:pPr>
            <a:endParaRPr lang="en-US" dirty="0"/>
          </a:p>
          <a:p>
            <a:pPr marL="2710815" marR="5080" algn="just">
              <a:lnSpc>
                <a:spcPct val="127099"/>
              </a:lnSpc>
              <a:spcBef>
                <a:spcPts val="100"/>
              </a:spcBef>
              <a:buChar char="•"/>
              <a:tabLst>
                <a:tab pos="2939415" algn="l"/>
              </a:tabLst>
            </a:pPr>
            <a:r>
              <a:rPr lang="en-US" dirty="0"/>
              <a:t>Academic Learning: Supports colleges and training institutes by offering an interactive coding practice environment.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8131" y="702479"/>
            <a:ext cx="43281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8440" algn="l"/>
              </a:tabLst>
            </a:pPr>
            <a:r>
              <a:rPr sz="6000" spc="320" dirty="0">
                <a:solidFill>
                  <a:srgbClr val="252525"/>
                </a:solidFill>
                <a:latin typeface="Times New Roman"/>
                <a:cs typeface="Times New Roman"/>
              </a:rPr>
              <a:t>GitHub</a:t>
            </a:r>
            <a:r>
              <a:rPr sz="60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6000" spc="204" dirty="0">
                <a:solidFill>
                  <a:srgbClr val="252525"/>
                </a:solidFill>
                <a:latin typeface="Times New Roman"/>
                <a:cs typeface="Times New Roman"/>
              </a:rPr>
              <a:t>Link</a:t>
            </a:r>
            <a:endParaRPr sz="6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9622" y="2610429"/>
            <a:ext cx="114299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542397" y="9486153"/>
            <a:ext cx="511175" cy="5702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3000" spc="-25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09CA1-C8EF-8624-3805-2EE79503427B}"/>
              </a:ext>
            </a:extLst>
          </p:cNvPr>
          <p:cNvSpPr txBox="1"/>
          <p:nvPr/>
        </p:nvSpPr>
        <p:spPr>
          <a:xfrm>
            <a:off x="4818669" y="2318041"/>
            <a:ext cx="10629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https://github.com/Shivamchouhan7/Syntiq-Coding-Platfrom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" y="0"/>
            <a:ext cx="4277360" cy="10288270"/>
            <a:chOff x="-59" y="0"/>
            <a:chExt cx="427736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" y="0"/>
              <a:ext cx="4276799" cy="102881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274319" y="1028699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5871606" y="9370624"/>
            <a:ext cx="2393315" cy="761365"/>
          </a:xfrm>
          <a:custGeom>
            <a:avLst/>
            <a:gdLst/>
            <a:ahLst/>
            <a:cxnLst/>
            <a:rect l="l" t="t" r="r" b="b"/>
            <a:pathLst>
              <a:path w="2393315" h="761365">
                <a:moveTo>
                  <a:pt x="518433" y="0"/>
                </a:moveTo>
                <a:lnTo>
                  <a:pt x="367923" y="0"/>
                </a:lnTo>
                <a:lnTo>
                  <a:pt x="360973" y="7141"/>
                </a:lnTo>
                <a:lnTo>
                  <a:pt x="358687" y="9524"/>
                </a:lnTo>
                <a:lnTo>
                  <a:pt x="355822" y="11810"/>
                </a:lnTo>
                <a:lnTo>
                  <a:pt x="353536" y="14285"/>
                </a:lnTo>
                <a:lnTo>
                  <a:pt x="10087" y="357758"/>
                </a:lnTo>
                <a:lnTo>
                  <a:pt x="2098" y="368528"/>
                </a:lnTo>
                <a:lnTo>
                  <a:pt x="0" y="376993"/>
                </a:lnTo>
                <a:lnTo>
                  <a:pt x="0" y="381547"/>
                </a:lnTo>
                <a:lnTo>
                  <a:pt x="2098" y="389998"/>
                </a:lnTo>
                <a:lnTo>
                  <a:pt x="10087" y="400714"/>
                </a:lnTo>
                <a:lnTo>
                  <a:pt x="353536" y="744091"/>
                </a:lnTo>
                <a:lnTo>
                  <a:pt x="360973" y="744091"/>
                </a:lnTo>
                <a:lnTo>
                  <a:pt x="360973" y="751235"/>
                </a:lnTo>
                <a:lnTo>
                  <a:pt x="368014" y="751235"/>
                </a:lnTo>
                <a:lnTo>
                  <a:pt x="375177" y="758379"/>
                </a:lnTo>
                <a:lnTo>
                  <a:pt x="2386362" y="760950"/>
                </a:lnTo>
                <a:lnTo>
                  <a:pt x="2392784" y="14285"/>
                </a:lnTo>
                <a:lnTo>
                  <a:pt x="2392847" y="5333"/>
                </a:lnTo>
                <a:lnTo>
                  <a:pt x="518433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64" y="3"/>
            <a:ext cx="2184973" cy="1864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54972" y="0"/>
            <a:ext cx="1525523" cy="21200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131" y="702479"/>
            <a:ext cx="53378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REFERENCES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542397" y="9486153"/>
            <a:ext cx="511175" cy="5702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3000" spc="-25" dirty="0">
                <a:solidFill>
                  <a:srgbClr val="FFFFFF"/>
                </a:solidFill>
                <a:latin typeface="Century Gothic"/>
                <a:cs typeface="Century Gothic"/>
              </a:rPr>
              <a:t>12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36AEF-F8F2-392E-EA25-DC6264704075}"/>
              </a:ext>
            </a:extLst>
          </p:cNvPr>
          <p:cNvSpPr txBox="1"/>
          <p:nvPr/>
        </p:nvSpPr>
        <p:spPr>
          <a:xfrm>
            <a:off x="3968131" y="2247900"/>
            <a:ext cx="1226246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Keuning, H., Jeuring, J., &amp; Heeren, B. (2018).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Literature Review of Automated Feedback Generation for Programming Exercises.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Computing Education.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i-FI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Ihantola, P., Ahadi, A., Karavirta, V., &amp; Petersen, A. (2015).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Data Mining and Learning Analytics in Programming Education.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[3].Edwards, S. H. (2003).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Student Performance by Evaluating How Well Students Test Their Own Programs. 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lt-L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Combéfis, S., Beresnevičius, G., &amp; Dagienė, V. (2016).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Programming Through Contest: Benefits of Online Judge Systems. 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9620" y="3749682"/>
            <a:ext cx="5028565" cy="26193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  <a:tabLst>
                <a:tab pos="3173730" algn="l"/>
              </a:tabLst>
            </a:pPr>
            <a:r>
              <a:rPr sz="81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sz="810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81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endParaRPr sz="8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  <a:tabLst>
                <a:tab pos="3590290" algn="l"/>
              </a:tabLst>
            </a:pPr>
            <a:r>
              <a:rPr sz="8100" spc="125" dirty="0">
                <a:solidFill>
                  <a:srgbClr val="A42F0F"/>
                </a:solidFill>
              </a:rPr>
              <a:t>Queries</a:t>
            </a:r>
            <a:r>
              <a:rPr sz="8100" dirty="0">
                <a:solidFill>
                  <a:srgbClr val="A42F0F"/>
                </a:solidFill>
              </a:rPr>
              <a:t>	</a:t>
            </a:r>
            <a:r>
              <a:rPr sz="8100" spc="-555" dirty="0">
                <a:solidFill>
                  <a:srgbClr val="A42F0F"/>
                </a:solidFill>
              </a:rPr>
              <a:t>?</a:t>
            </a:r>
            <a:endParaRPr sz="8100"/>
          </a:p>
        </p:txBody>
      </p:sp>
      <p:sp>
        <p:nvSpPr>
          <p:cNvPr id="3" name="object 3"/>
          <p:cNvSpPr txBox="1"/>
          <p:nvPr/>
        </p:nvSpPr>
        <p:spPr>
          <a:xfrm>
            <a:off x="17542397" y="9486153"/>
            <a:ext cx="511175" cy="5702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3000" spc="-25" dirty="0">
                <a:solidFill>
                  <a:srgbClr val="FFFFFF"/>
                </a:solidFill>
                <a:latin typeface="Century Gothic"/>
                <a:cs typeface="Century Gothic"/>
              </a:rPr>
              <a:t>13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887</Words>
  <Application>Microsoft Office PowerPoint</Application>
  <PresentationFormat>Custom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Times New Roman</vt:lpstr>
      <vt:lpstr>Office Theme</vt:lpstr>
      <vt:lpstr> Presentation on AI-Powered Coding Practice Platform (Syntiq)</vt:lpstr>
      <vt:lpstr>Contents</vt:lpstr>
      <vt:lpstr>1. Introduction</vt:lpstr>
      <vt:lpstr>2. Literature Review</vt:lpstr>
      <vt:lpstr>3. Problem Statement</vt:lpstr>
      <vt:lpstr>4. Proposed Solution</vt:lpstr>
      <vt:lpstr>5. Objectives</vt:lpstr>
      <vt:lpstr>6. Theoretical Analysis</vt:lpstr>
      <vt:lpstr>PowerPoint Presentation</vt:lpstr>
      <vt:lpstr>PowerPoint Presentation</vt:lpstr>
      <vt:lpstr>6. Theoretical Analysis</vt:lpstr>
      <vt:lpstr>7.Applications</vt:lpstr>
      <vt:lpstr>PowerPoint Presentation</vt:lpstr>
      <vt:lpstr>REFERENCES</vt:lpstr>
      <vt:lpstr>Thank You Queries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shivaniprajapati01062005@gmail.com</cp:lastModifiedBy>
  <cp:revision>7</cp:revision>
  <dcterms:created xsi:type="dcterms:W3CDTF">2026-06-15T18:54:56Z</dcterms:created>
  <dcterms:modified xsi:type="dcterms:W3CDTF">2026-06-16T06:51:41Z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2026-06-15T00:00:00Z</vt:filetime>
  </property>
  <property fmtid="{D5CDD505-2E9C-101B-9397-08002B2CF9AE}" pid="3" name="LastSaved">
    <vt:filetime>2026-06-15T00:00:00Z</vt:filetime>
  </property>
</Properties>
</file>